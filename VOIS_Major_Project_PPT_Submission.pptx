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Kusuma-97/Agriculture_DA_VIO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9936117" cy="861497"/>
          </a:xfrm>
        </p:spPr>
        <p:txBody>
          <a:bodyPr vert="horz" lIns="91440" tIns="45720" rIns="91440" bIns="45720" rtlCol="0" anchor="t">
            <a:normAutofit/>
          </a:bodyPr>
          <a:lstStyle/>
          <a:p>
            <a:pPr algn="r"/>
            <a:r>
              <a:rPr lang="en-IN" dirty="0">
                <a:solidFill>
                  <a:schemeClr val="accent4">
                    <a:lumMod val="50000"/>
                  </a:schemeClr>
                </a:solidFill>
              </a:rPr>
              <a:t>Palavalasa Kusuma</a:t>
            </a:r>
          </a:p>
          <a:p>
            <a:pPr algn="r"/>
            <a:r>
              <a:rPr lang="en-IN" dirty="0">
                <a:solidFill>
                  <a:schemeClr val="tx1"/>
                </a:solidFill>
              </a:rPr>
              <a:t>Rishi MS Institute of Engineering and technology for women</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1513637" cy="631676"/>
          </a:xfrm>
        </p:spPr>
        <p:txBody>
          <a:bodyPr>
            <a:normAutofit fontScale="90000"/>
          </a:bodyPr>
          <a:lstStyle/>
          <a:p>
            <a:r>
              <a:rPr lang="en-GB" sz="3200" b="1" dirty="0"/>
              <a:t>Project Title –SEASONAL AGRICULTURE PERFORMANCE ANALYSIS </a:t>
            </a:r>
            <a:endParaRPr lang="en-IN" sz="3200" b="1"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536700" cy="369332"/>
          </a:xfrm>
          <a:prstGeom prst="rect">
            <a:avLst/>
          </a:prstGeom>
          <a:noFill/>
        </p:spPr>
        <p:txBody>
          <a:bodyPr wrap="square" rtlCol="0">
            <a:spAutoFit/>
          </a:bodyPr>
          <a:lstStyle/>
          <a:p>
            <a:r>
              <a:rPr lang="en-US" b="1" dirty="0"/>
              <a:t>AICTE STU ID :</a:t>
            </a:r>
            <a:r>
              <a:rPr lang="en-IN" b="1" dirty="0"/>
              <a:t> STU66446800d66971715759104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47500" lnSpcReduction="20000"/>
          </a:bodyPr>
          <a:lstStyle/>
          <a:p>
            <a:pPr algn="just">
              <a:lnSpc>
                <a:spcPct val="150000"/>
              </a:lnSpc>
            </a:pPr>
            <a:r>
              <a:rPr lang="en-US" sz="3300" dirty="0">
                <a:solidFill>
                  <a:srgbClr val="333333"/>
                </a:solidFill>
                <a:latin typeface="Calibri" pitchFamily="34" charset="0"/>
                <a:ea typeface="Calibri" pitchFamily="34" charset="-122"/>
                <a:cs typeface="Calibri" pitchFamily="34" charset="-120"/>
              </a:rPr>
              <a:t>Agricultural activities are influenced by seasonal variations in environmental conditions, farming practices, resource availability, and market conditions. As a result, agricultural performance may differ significantly from one season to another. However, raw agricultural data does not clearly explain how performance changes across seasons or what patterns emerge under different seasonal conditions.
</a:t>
            </a:r>
            <a:r>
              <a:rPr lang="en-US" sz="3300" b="1" dirty="0">
                <a:solidFill>
                  <a:srgbClr val="1E4020"/>
                </a:solidFill>
                <a:latin typeface="Calibri" pitchFamily="34" charset="0"/>
                <a:ea typeface="Calibri" pitchFamily="34" charset="-122"/>
                <a:cs typeface="Calibri" pitchFamily="34" charset="-120"/>
              </a:rPr>
              <a:t>The problem is to analyze the given agricultural dataset and investigate seasonal differences in agricultural performance by identifying meaningful patterns, trends, relationships, and variations within the available data.</a:t>
            </a:r>
            <a:endParaRPr lang="en-US" sz="33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198F44F5-9BDD-1C9C-5307-07981A216EAD}"/>
              </a:ext>
            </a:extLst>
          </p:cNvPr>
          <p:cNvSpPr txBox="1"/>
          <p:nvPr/>
        </p:nvSpPr>
        <p:spPr>
          <a:xfrm>
            <a:off x="675958" y="1992085"/>
            <a:ext cx="8957900" cy="3677930"/>
          </a:xfrm>
          <a:prstGeom prst="rect">
            <a:avLst/>
          </a:prstGeom>
          <a:noFill/>
        </p:spPr>
        <p:txBody>
          <a:bodyPr wrap="square" rtlCol="0">
            <a:spAutoFit/>
          </a:bodyPr>
          <a:lstStyle/>
          <a:p>
            <a:pPr marL="228600" indent="-228600" algn="just">
              <a:spcAft>
                <a:spcPts val="1400"/>
              </a:spcAft>
              <a:buSzPct val="100000"/>
              <a:buChar char="■"/>
            </a:pPr>
            <a:r>
              <a:rPr lang="en-US" dirty="0">
                <a:solidFill>
                  <a:srgbClr val="333333"/>
                </a:solidFill>
                <a:latin typeface="Calibri" pitchFamily="34" charset="0"/>
                <a:ea typeface="Calibri" pitchFamily="34" charset="-122"/>
                <a:cs typeface="Calibri" pitchFamily="34" charset="-120"/>
              </a:rPr>
              <a:t>This project performs an end-to-end Exploratory Data Analysis (EDA) on a seasonal agriculture performance dataset containing 4,000 farm-level records across 8 Indian states, 8 crops, 3 seasons (Kharif, Rabi, Zaid) and 4 irrigation methods.</a:t>
            </a:r>
            <a:endParaRPr lang="en-US" dirty="0"/>
          </a:p>
          <a:p>
            <a:pPr marL="228600" indent="-228600" algn="just">
              <a:spcAft>
                <a:spcPts val="1400"/>
              </a:spcAft>
              <a:buSzPct val="100000"/>
              <a:buChar char="■"/>
            </a:pPr>
            <a:r>
              <a:rPr lang="en-US" dirty="0">
                <a:solidFill>
                  <a:srgbClr val="333333"/>
                </a:solidFill>
                <a:latin typeface="Calibri" pitchFamily="34" charset="0"/>
                <a:ea typeface="Calibri" pitchFamily="34" charset="-122"/>
                <a:cs typeface="Calibri" pitchFamily="34" charset="-120"/>
              </a:rPr>
              <a:t>The dataset captures environmental conditions (rainfall, temperature, humidity, soil pH &amp; moisture, sunlight), farm inputs (fertilizer, pesticide, nutrients, seed quality), and outcomes (yield, production, cost, revenue, profit, water usage, disease/pest risk).</a:t>
            </a:r>
            <a:endParaRPr lang="en-US" dirty="0"/>
          </a:p>
          <a:p>
            <a:pPr marL="228600" indent="-228600" algn="just">
              <a:spcAft>
                <a:spcPts val="1400"/>
              </a:spcAft>
              <a:buSzPct val="100000"/>
              <a:buChar char="■"/>
            </a:pPr>
            <a:r>
              <a:rPr lang="en-US" dirty="0">
                <a:solidFill>
                  <a:srgbClr val="333333"/>
                </a:solidFill>
                <a:latin typeface="Calibri" pitchFamily="34" charset="0"/>
                <a:ea typeface="Calibri" pitchFamily="34" charset="-122"/>
                <a:cs typeface="Calibri" pitchFamily="34" charset="-120"/>
              </a:rPr>
              <a:t>Using Python (Pandas, Matplotlib, Seaborn) in Jupyter Notebook, the project explores univariate distributions, correlations, and multivariate relationships to answer: Which crops/seasons/states/irrigation methods perform best, and why?</a:t>
            </a:r>
            <a:endParaRPr lang="en-US" dirty="0"/>
          </a:p>
          <a:p>
            <a:pPr marL="228600" indent="-228600" algn="just">
              <a:spcAft>
                <a:spcPts val="1400"/>
              </a:spcAft>
              <a:buSzPct val="100000"/>
              <a:buChar char="■"/>
            </a:pPr>
            <a:r>
              <a:rPr lang="en-US" dirty="0">
                <a:solidFill>
                  <a:srgbClr val="333333"/>
                </a:solidFill>
                <a:latin typeface="Calibri" pitchFamily="34" charset="0"/>
                <a:ea typeface="Calibri" pitchFamily="34" charset="-122"/>
                <a:cs typeface="Calibri" pitchFamily="34" charset="-120"/>
              </a:rPr>
              <a:t>The final output is a fully documented notebook with charts and an auto-generated key-insights summary that can support data-driven agricultural decision-making</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r>
              <a:rPr lang="en-IN" sz="1800" dirty="0"/>
              <a:t>Farmers &amp; Growers</a:t>
            </a:r>
          </a:p>
          <a:p>
            <a:pPr algn="just">
              <a:lnSpc>
                <a:spcPct val="150000"/>
              </a:lnSpc>
            </a:pPr>
            <a:r>
              <a:rPr lang="en-IN" sz="1800" dirty="0"/>
              <a:t>Researchers &amp; Students</a:t>
            </a:r>
          </a:p>
          <a:p>
            <a:pPr algn="just">
              <a:lnSpc>
                <a:spcPct val="150000"/>
              </a:lnSpc>
            </a:pPr>
            <a:r>
              <a:rPr lang="en-IN" sz="1800" dirty="0"/>
              <a:t>Financial &amp; Insurance Providers</a:t>
            </a:r>
          </a:p>
          <a:p>
            <a:pPr algn="just">
              <a:lnSpc>
                <a:spcPct val="150000"/>
              </a:lnSpc>
            </a:pPr>
            <a:r>
              <a:rPr lang="en-IN" sz="1800" dirty="0"/>
              <a:t>Agri-business &amp; Supply Chain Planners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normAutofit/>
          </a:bodyPr>
          <a:lstStyle/>
          <a:p>
            <a:pPr lvl="1">
              <a:lnSpc>
                <a:spcPct val="150000"/>
              </a:lnSpc>
            </a:pPr>
            <a:r>
              <a:rPr lang="en-IN" sz="1800" dirty="0"/>
              <a:t>Python 3</a:t>
            </a:r>
          </a:p>
          <a:p>
            <a:pPr lvl="1">
              <a:lnSpc>
                <a:spcPct val="150000"/>
              </a:lnSpc>
            </a:pPr>
            <a:r>
              <a:rPr lang="en-IN" sz="1800" dirty="0"/>
              <a:t>Jupyter Notebook</a:t>
            </a:r>
          </a:p>
          <a:p>
            <a:pPr lvl="1">
              <a:lnSpc>
                <a:spcPct val="150000"/>
              </a:lnSpc>
            </a:pPr>
            <a:r>
              <a:rPr lang="en-IN" sz="1800" dirty="0"/>
              <a:t>Pandas &amp; </a:t>
            </a:r>
            <a:r>
              <a:rPr lang="en-IN" sz="1800" dirty="0" err="1"/>
              <a:t>Numpy</a:t>
            </a:r>
            <a:endParaRPr lang="en-IN" sz="1800" dirty="0"/>
          </a:p>
          <a:p>
            <a:pPr lvl="1">
              <a:lnSpc>
                <a:spcPct val="150000"/>
              </a:lnSpc>
            </a:pPr>
            <a:r>
              <a:rPr lang="en-IN" sz="1800" dirty="0"/>
              <a:t>Matplotlib &amp; Seaborn</a:t>
            </a:r>
          </a:p>
          <a:p>
            <a:pPr lvl="1">
              <a:lnSpc>
                <a:spcPct val="150000"/>
              </a:lnSpc>
            </a:pPr>
            <a:r>
              <a:rPr lang="en-IN" sz="1800" dirty="0"/>
              <a:t>CSV dataset</a:t>
            </a:r>
          </a:p>
          <a:p>
            <a:pPr lvl="1">
              <a:lnSpc>
                <a:spcPct val="150000"/>
              </a:lnSpc>
            </a:pPr>
            <a:r>
              <a:rPr lang="en-IN" sz="1800" dirty="0" err="1"/>
              <a:t>Github</a:t>
            </a:r>
            <a:endParaRPr lang="en-IN" sz="1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43D4ACB5-C0DA-D5BF-4CCD-EBBF333B489D}"/>
              </a:ext>
            </a:extLst>
          </p:cNvPr>
          <p:cNvPicPr>
            <a:picLocks noChangeAspect="1"/>
          </p:cNvPicPr>
          <p:nvPr/>
        </p:nvPicPr>
        <p:blipFill>
          <a:blip r:embed="rId3"/>
          <a:stretch>
            <a:fillRect/>
          </a:stretch>
        </p:blipFill>
        <p:spPr>
          <a:xfrm>
            <a:off x="807164" y="1431693"/>
            <a:ext cx="9561479" cy="447925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958CE61-476C-3A85-2468-F6B052C156DF}"/>
              </a:ext>
            </a:extLst>
          </p:cNvPr>
          <p:cNvPicPr>
            <a:picLocks noChangeAspect="1"/>
          </p:cNvPicPr>
          <p:nvPr/>
        </p:nvPicPr>
        <p:blipFill>
          <a:blip r:embed="rId3"/>
          <a:stretch>
            <a:fillRect/>
          </a:stretch>
        </p:blipFill>
        <p:spPr>
          <a:xfrm>
            <a:off x="807164" y="1114407"/>
            <a:ext cx="9724765" cy="2767604"/>
          </a:xfrm>
          <a:prstGeom prst="rect">
            <a:avLst/>
          </a:prstGeom>
        </p:spPr>
      </p:pic>
      <p:pic>
        <p:nvPicPr>
          <p:cNvPr id="9" name="Picture 8">
            <a:extLst>
              <a:ext uri="{FF2B5EF4-FFF2-40B4-BE49-F238E27FC236}">
                <a16:creationId xmlns:a16="http://schemas.microsoft.com/office/drawing/2014/main" id="{07F44481-DABB-D5AE-AE0E-A6FAC33E2640}"/>
              </a:ext>
            </a:extLst>
          </p:cNvPr>
          <p:cNvPicPr>
            <a:picLocks noChangeAspect="1"/>
          </p:cNvPicPr>
          <p:nvPr/>
        </p:nvPicPr>
        <p:blipFill>
          <a:blip r:embed="rId4"/>
          <a:stretch>
            <a:fillRect/>
          </a:stretch>
        </p:blipFill>
        <p:spPr>
          <a:xfrm>
            <a:off x="807164" y="3952642"/>
            <a:ext cx="9724765" cy="253476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A2F84F6-C8ED-FC18-F4DC-12ABB5EC2330}"/>
              </a:ext>
            </a:extLst>
          </p:cNvPr>
          <p:cNvPicPr>
            <a:picLocks noChangeAspect="1"/>
          </p:cNvPicPr>
          <p:nvPr/>
        </p:nvPicPr>
        <p:blipFill>
          <a:blip r:embed="rId3"/>
          <a:stretch>
            <a:fillRect/>
          </a:stretch>
        </p:blipFill>
        <p:spPr>
          <a:xfrm>
            <a:off x="0" y="1275371"/>
            <a:ext cx="5600700" cy="2839429"/>
          </a:xfrm>
          <a:prstGeom prst="rect">
            <a:avLst/>
          </a:prstGeom>
        </p:spPr>
      </p:pic>
      <p:pic>
        <p:nvPicPr>
          <p:cNvPr id="9" name="Picture 8">
            <a:extLst>
              <a:ext uri="{FF2B5EF4-FFF2-40B4-BE49-F238E27FC236}">
                <a16:creationId xmlns:a16="http://schemas.microsoft.com/office/drawing/2014/main" id="{401C84D0-E0E6-A395-67A7-68190EE3E956}"/>
              </a:ext>
            </a:extLst>
          </p:cNvPr>
          <p:cNvPicPr>
            <a:picLocks noChangeAspect="1"/>
          </p:cNvPicPr>
          <p:nvPr/>
        </p:nvPicPr>
        <p:blipFill>
          <a:blip r:embed="rId4"/>
          <a:stretch>
            <a:fillRect/>
          </a:stretch>
        </p:blipFill>
        <p:spPr>
          <a:xfrm>
            <a:off x="5763452" y="1275370"/>
            <a:ext cx="6428547" cy="2839429"/>
          </a:xfrm>
          <a:prstGeom prst="rect">
            <a:avLst/>
          </a:prstGeom>
        </p:spPr>
      </p:pic>
      <p:pic>
        <p:nvPicPr>
          <p:cNvPr id="12" name="Picture 11">
            <a:extLst>
              <a:ext uri="{FF2B5EF4-FFF2-40B4-BE49-F238E27FC236}">
                <a16:creationId xmlns:a16="http://schemas.microsoft.com/office/drawing/2014/main" id="{9CAC7867-92D7-D515-1E0A-7BC4816CAE14}"/>
              </a:ext>
            </a:extLst>
          </p:cNvPr>
          <p:cNvPicPr>
            <a:picLocks noChangeAspect="1"/>
          </p:cNvPicPr>
          <p:nvPr/>
        </p:nvPicPr>
        <p:blipFill>
          <a:blip r:embed="rId5"/>
          <a:stretch>
            <a:fillRect/>
          </a:stretch>
        </p:blipFill>
        <p:spPr>
          <a:xfrm>
            <a:off x="0" y="4188584"/>
            <a:ext cx="5763453" cy="2669415"/>
          </a:xfrm>
          <a:prstGeom prst="rect">
            <a:avLst/>
          </a:prstGeom>
        </p:spPr>
      </p:pic>
      <p:pic>
        <p:nvPicPr>
          <p:cNvPr id="14" name="Picture 13">
            <a:extLst>
              <a:ext uri="{FF2B5EF4-FFF2-40B4-BE49-F238E27FC236}">
                <a16:creationId xmlns:a16="http://schemas.microsoft.com/office/drawing/2014/main" id="{633B32A7-2575-C8B9-88A7-E34962584176}"/>
              </a:ext>
            </a:extLst>
          </p:cNvPr>
          <p:cNvPicPr>
            <a:picLocks noChangeAspect="1"/>
          </p:cNvPicPr>
          <p:nvPr/>
        </p:nvPicPr>
        <p:blipFill>
          <a:blip r:embed="rId6"/>
          <a:stretch>
            <a:fillRect/>
          </a:stretch>
        </p:blipFill>
        <p:spPr>
          <a:xfrm>
            <a:off x="6096000" y="3929197"/>
            <a:ext cx="6095999" cy="292880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664CC484-7449-4CD2-E448-AE50240F84D0}"/>
              </a:ext>
            </a:extLst>
          </p:cNvPr>
          <p:cNvPicPr>
            <a:picLocks noChangeAspect="1"/>
          </p:cNvPicPr>
          <p:nvPr/>
        </p:nvPicPr>
        <p:blipFill>
          <a:blip r:embed="rId3"/>
          <a:stretch>
            <a:fillRect/>
          </a:stretch>
        </p:blipFill>
        <p:spPr>
          <a:xfrm>
            <a:off x="69736" y="1059669"/>
            <a:ext cx="5863854" cy="2842860"/>
          </a:xfrm>
          <a:prstGeom prst="rect">
            <a:avLst/>
          </a:prstGeom>
        </p:spPr>
      </p:pic>
      <p:pic>
        <p:nvPicPr>
          <p:cNvPr id="16" name="Picture 15">
            <a:extLst>
              <a:ext uri="{FF2B5EF4-FFF2-40B4-BE49-F238E27FC236}">
                <a16:creationId xmlns:a16="http://schemas.microsoft.com/office/drawing/2014/main" id="{59182452-77BF-9366-C156-E069469D2CA2}"/>
              </a:ext>
            </a:extLst>
          </p:cNvPr>
          <p:cNvPicPr>
            <a:picLocks noChangeAspect="1"/>
          </p:cNvPicPr>
          <p:nvPr/>
        </p:nvPicPr>
        <p:blipFill>
          <a:blip r:embed="rId4"/>
          <a:stretch>
            <a:fillRect/>
          </a:stretch>
        </p:blipFill>
        <p:spPr>
          <a:xfrm>
            <a:off x="5933589" y="1201585"/>
            <a:ext cx="6095999" cy="2700944"/>
          </a:xfrm>
          <a:prstGeom prst="rect">
            <a:avLst/>
          </a:prstGeom>
        </p:spPr>
      </p:pic>
      <p:pic>
        <p:nvPicPr>
          <p:cNvPr id="18" name="Picture 17">
            <a:extLst>
              <a:ext uri="{FF2B5EF4-FFF2-40B4-BE49-F238E27FC236}">
                <a16:creationId xmlns:a16="http://schemas.microsoft.com/office/drawing/2014/main" id="{76BE227B-D059-E811-E9D6-64B1636D39A8}"/>
              </a:ext>
            </a:extLst>
          </p:cNvPr>
          <p:cNvPicPr>
            <a:picLocks noChangeAspect="1"/>
          </p:cNvPicPr>
          <p:nvPr/>
        </p:nvPicPr>
        <p:blipFill>
          <a:blip r:embed="rId5"/>
          <a:stretch>
            <a:fillRect/>
          </a:stretch>
        </p:blipFill>
        <p:spPr>
          <a:xfrm>
            <a:off x="0" y="4118231"/>
            <a:ext cx="6095999" cy="2700944"/>
          </a:xfrm>
          <a:prstGeom prst="rect">
            <a:avLst/>
          </a:prstGeom>
        </p:spPr>
      </p:pic>
      <p:pic>
        <p:nvPicPr>
          <p:cNvPr id="20" name="Picture 19">
            <a:extLst>
              <a:ext uri="{FF2B5EF4-FFF2-40B4-BE49-F238E27FC236}">
                <a16:creationId xmlns:a16="http://schemas.microsoft.com/office/drawing/2014/main" id="{2692DDE8-6C89-0F5F-364C-D859F2A82C78}"/>
              </a:ext>
            </a:extLst>
          </p:cNvPr>
          <p:cNvPicPr>
            <a:picLocks noChangeAspect="1"/>
          </p:cNvPicPr>
          <p:nvPr/>
        </p:nvPicPr>
        <p:blipFill>
          <a:blip r:embed="rId6"/>
          <a:stretch>
            <a:fillRect/>
          </a:stretch>
        </p:blipFill>
        <p:spPr>
          <a:xfrm>
            <a:off x="6095999" y="3976315"/>
            <a:ext cx="6026265" cy="288168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4C313F2-6907-9BAB-A3A5-1B336C8EF275}"/>
              </a:ext>
            </a:extLst>
          </p:cNvPr>
          <p:cNvPicPr>
            <a:picLocks noChangeAspect="1"/>
          </p:cNvPicPr>
          <p:nvPr/>
        </p:nvPicPr>
        <p:blipFill>
          <a:blip r:embed="rId3"/>
          <a:stretch>
            <a:fillRect/>
          </a:stretch>
        </p:blipFill>
        <p:spPr>
          <a:xfrm>
            <a:off x="116185" y="1201586"/>
            <a:ext cx="5979816" cy="5583193"/>
          </a:xfrm>
          <a:prstGeom prst="rect">
            <a:avLst/>
          </a:prstGeom>
        </p:spPr>
      </p:pic>
      <p:pic>
        <p:nvPicPr>
          <p:cNvPr id="9" name="Picture 8">
            <a:extLst>
              <a:ext uri="{FF2B5EF4-FFF2-40B4-BE49-F238E27FC236}">
                <a16:creationId xmlns:a16="http://schemas.microsoft.com/office/drawing/2014/main" id="{238CA632-FB72-3973-581D-E567CE4834E8}"/>
              </a:ext>
            </a:extLst>
          </p:cNvPr>
          <p:cNvPicPr>
            <a:picLocks noChangeAspect="1"/>
          </p:cNvPicPr>
          <p:nvPr/>
        </p:nvPicPr>
        <p:blipFill>
          <a:blip r:embed="rId4"/>
          <a:stretch>
            <a:fillRect/>
          </a:stretch>
        </p:blipFill>
        <p:spPr>
          <a:xfrm>
            <a:off x="6449786" y="1201586"/>
            <a:ext cx="5626030" cy="5656414"/>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BD4A214-A82F-09A6-5176-8487B6BA864A}"/>
              </a:ext>
            </a:extLst>
          </p:cNvPr>
          <p:cNvSpPr txBox="1"/>
          <p:nvPr/>
        </p:nvSpPr>
        <p:spPr>
          <a:xfrm>
            <a:off x="522514" y="1436914"/>
            <a:ext cx="9470572" cy="4093428"/>
          </a:xfrm>
          <a:prstGeom prst="rect">
            <a:avLst/>
          </a:prstGeom>
          <a:noFill/>
        </p:spPr>
        <p:txBody>
          <a:bodyPr wrap="square" rtlCol="0">
            <a:spAutoFit/>
          </a:bodyPr>
          <a:lstStyle/>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Build a predictive model (Random Forest / </a:t>
            </a:r>
            <a:r>
              <a:rPr lang="en-US" dirty="0" err="1">
                <a:solidFill>
                  <a:srgbClr val="333333"/>
                </a:solidFill>
                <a:latin typeface="Calibri" pitchFamily="34" charset="0"/>
                <a:ea typeface="Calibri" pitchFamily="34" charset="-122"/>
                <a:cs typeface="Calibri" pitchFamily="34" charset="-120"/>
              </a:rPr>
              <a:t>XGBoost</a:t>
            </a:r>
            <a:r>
              <a:rPr lang="en-US" dirty="0">
                <a:solidFill>
                  <a:srgbClr val="333333"/>
                </a:solidFill>
                <a:latin typeface="Calibri" pitchFamily="34" charset="0"/>
                <a:ea typeface="Calibri" pitchFamily="34" charset="-122"/>
                <a:cs typeface="Calibri" pitchFamily="34" charset="-120"/>
              </a:rPr>
              <a:t>) to forecast Yield or Profit from environmental &amp; input features.</a:t>
            </a:r>
            <a:endParaRPr lang="en-US" dirty="0"/>
          </a:p>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Cluster farms by input-usage and outcome profiles to identify efficient vs. inefficient farming patterns.</a:t>
            </a:r>
            <a:endParaRPr lang="en-US" dirty="0"/>
          </a:p>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Incorporate multi-year time-series data to study long-term seasonal and climate trends.</a:t>
            </a:r>
            <a:endParaRPr lang="en-US" dirty="0"/>
          </a:p>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Add a district-level drill-down to pinpoint high- and low-performing micro-regions.</a:t>
            </a:r>
            <a:endParaRPr lang="en-US" dirty="0"/>
          </a:p>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Deploy an interactive dashboard (Power BI / </a:t>
            </a:r>
            <a:r>
              <a:rPr lang="en-US" dirty="0" err="1">
                <a:solidFill>
                  <a:srgbClr val="333333"/>
                </a:solidFill>
                <a:latin typeface="Calibri" pitchFamily="34" charset="0"/>
                <a:ea typeface="Calibri" pitchFamily="34" charset="-122"/>
                <a:cs typeface="Calibri" pitchFamily="34" charset="-120"/>
              </a:rPr>
              <a:t>Streamlit</a:t>
            </a:r>
            <a:r>
              <a:rPr lang="en-US" dirty="0">
                <a:solidFill>
                  <a:srgbClr val="333333"/>
                </a:solidFill>
                <a:latin typeface="Calibri" pitchFamily="34" charset="0"/>
                <a:ea typeface="Calibri" pitchFamily="34" charset="-122"/>
                <a:cs typeface="Calibri" pitchFamily="34" charset="-120"/>
              </a:rPr>
              <a:t>) for real-time exploration by non-technical stakeholders.</a:t>
            </a:r>
            <a:endParaRPr lang="en-US" dirty="0"/>
          </a:p>
          <a:p>
            <a:pPr marL="285750" indent="-285750" algn="just">
              <a:spcAft>
                <a:spcPts val="1600"/>
              </a:spcAft>
              <a:buSzPct val="100000"/>
              <a:buFont typeface="Arial" panose="020B0604020202020204" pitchFamily="34" charset="0"/>
              <a:buChar char="•"/>
            </a:pPr>
            <a:r>
              <a:rPr lang="en-US" dirty="0">
                <a:solidFill>
                  <a:srgbClr val="333333"/>
                </a:solidFill>
                <a:latin typeface="Calibri" pitchFamily="34" charset="0"/>
                <a:ea typeface="Calibri" pitchFamily="34" charset="-122"/>
                <a:cs typeface="Calibri" pitchFamily="34" charset="-120"/>
              </a:rPr>
              <a:t>Integrate live weather &amp; market-price APIs for real-time decision support.</a:t>
            </a:r>
            <a:endParaRPr lang="en-US" dirty="0"/>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2BA2FF48-D747-5489-1BA2-5B5B7AB7F1A0}"/>
              </a:ext>
            </a:extLst>
          </p:cNvPr>
          <p:cNvSpPr txBox="1"/>
          <p:nvPr/>
        </p:nvSpPr>
        <p:spPr>
          <a:xfrm>
            <a:off x="1747519" y="2467356"/>
            <a:ext cx="9109983" cy="923330"/>
          </a:xfrm>
          <a:prstGeom prst="rect">
            <a:avLst/>
          </a:prstGeom>
          <a:noFill/>
        </p:spPr>
        <p:txBody>
          <a:bodyPr wrap="square" rtlCol="0">
            <a:spAutoFit/>
          </a:bodyPr>
          <a:lstStyle/>
          <a:p>
            <a:r>
              <a:rPr lang="en-IN" dirty="0">
                <a:hlinkClick r:id="rId3"/>
              </a:rPr>
              <a:t>https://github.com/Kusuma-97/Agriculture_DA_VIOS.git</a:t>
            </a:r>
            <a:endParaRPr lang="en-IN" dirty="0"/>
          </a:p>
          <a:p>
            <a:endParaRPr lang="en-IN" dirty="0"/>
          </a:p>
          <a:p>
            <a:endParaRPr lang="en-IN"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CBE7561-9C5A-73B6-AF4C-57F5043907CE}"/>
              </a:ext>
            </a:extLst>
          </p:cNvPr>
          <p:cNvPicPr>
            <a:picLocks noChangeAspect="1"/>
          </p:cNvPicPr>
          <p:nvPr/>
        </p:nvPicPr>
        <p:blipFill>
          <a:blip r:embed="rId3"/>
          <a:stretch>
            <a:fillRect/>
          </a:stretch>
        </p:blipFill>
        <p:spPr>
          <a:xfrm>
            <a:off x="675957" y="1551214"/>
            <a:ext cx="10476457" cy="511374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596</TotalTime>
  <Words>481</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 </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Kusuma Palavalasa</cp:lastModifiedBy>
  <cp:revision>98</cp:revision>
  <dcterms:created xsi:type="dcterms:W3CDTF">2021-07-11T13:13:15Z</dcterms:created>
  <dcterms:modified xsi:type="dcterms:W3CDTF">2026-09-06T12:23:19Z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